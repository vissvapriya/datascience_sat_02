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63A5F"/>
                </a:solidFill>
              </a:defRPr>
            </a:pPr>
            <a:r>
              <a:t>Bank Customer Insight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DS Sprint Skill-Based Assessment 2 | Use Case 08</a:t>
            </a:r>
          </a:p>
          <a:p>
            <a:r>
              <a:t>TrustWave Bank | Synthetic-data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3A5F"/>
                </a:solidFill>
              </a:defRPr>
            </a:pPr>
            <a:r>
              <a:t>Business problem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Synthetic-data findings | TrustWave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Business question: How do customers use banking services, and which segments show changing engagement?</a:t>
            </a:r>
          </a:p>
          <a:p>
            <a:pPr>
              <a:spcAft>
                <a:spcPts val="1400"/>
              </a:spcAft>
              <a:defRPr sz="2100"/>
            </a:pPr>
            <a:r>
              <a:t>Understand channel preferences, account activity, balance differences, complaints, and repeat service needs.</a:t>
            </a:r>
          </a:p>
          <a:p>
            <a:pPr>
              <a:spcAft>
                <a:spcPts val="1400"/>
              </a:spcAft>
              <a:defRPr sz="2100"/>
            </a:pPr>
            <a:r>
              <a:t>Build an interpretable customer-level engagement prototype to inform targeted service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3A5F"/>
                </a:solidFill>
              </a:defRPr>
            </a:pPr>
            <a:r>
              <a:t>Synthetic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Synthetic-data findings | TrustWave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1,200 customers across five regions and four age bands.</a:t>
            </a:r>
          </a:p>
          <a:p>
            <a:pPr>
              <a:spcAft>
                <a:spcPts val="1400"/>
              </a:spcAft>
              <a:defRPr sz="2100"/>
            </a:pPr>
            <a:r>
              <a:t>1,907 accounts; 48,169 raw transaction rows including injected duplicates.</a:t>
            </a:r>
          </a:p>
          <a:p>
            <a:pPr>
              <a:spcAft>
                <a:spcPts val="1400"/>
              </a:spcAft>
              <a:defRPr sz="2100"/>
            </a:pPr>
            <a:r>
              <a:t>1,200 channel profiles and 1,971 service records.</a:t>
            </a:r>
          </a:p>
          <a:p>
            <a:pPr>
              <a:spcAft>
                <a:spcPts val="1400"/>
              </a:spcAft>
              <a:defRPr sz="2100"/>
            </a:pPr>
            <a:r>
              <a:t>Fixed seed 20261013. All records and results are synthetic; they do not describe real bank customers.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3A5F"/>
                </a:solidFill>
              </a:defRPr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Synthetic-data findings | TrustWave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Removed 476 repeated transaction IDs; unique transaction IDs preserve similar legitimate payments.</a:t>
            </a:r>
          </a:p>
          <a:p>
            <a:pPr>
              <a:spcAft>
                <a:spcPts val="1400"/>
              </a:spcAft>
              <a:defRPr sz="2100"/>
            </a:pPr>
            <a:r>
              <a:t>Standardized inconsistent account labels and filled 277 missing channel cells using age-band medians.</a:t>
            </a:r>
          </a:p>
          <a:p>
            <a:pPr>
              <a:spcAft>
                <a:spcPts val="1400"/>
              </a:spcAft>
              <a:defRPr sz="2100"/>
            </a:pPr>
            <a:r>
              <a:t>IQR bounds: 0.00 to 279.81; flagged 3,655 and capped extreme amounts.</a:t>
            </a:r>
          </a:p>
          <a:p>
            <a:pPr>
              <a:spcAft>
                <a:spcPts val="1400"/>
              </a:spcAft>
              <a:defRPr sz="2100"/>
            </a:pPr>
            <a:r>
              <a:t>Filled incomplete service categories/statuses with explicit labels and imputed missing resolution time; saved before/after quality 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3A5F"/>
                </a:solidFill>
              </a:defRPr>
            </a:pPr>
            <a:r>
              <a:t>EDA: channels and customer balances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Synthetic-data findings | TrustWave Bank</a:t>
            </a:r>
          </a:p>
        </p:txBody>
      </p:sp>
      <p:pic>
        <p:nvPicPr>
          <p:cNvPr id="4" name="Picture 3" descr="channel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486400" cy="33870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4173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Mobile is the most-used channel (5,286 reported uses).</a:t>
            </a:r>
          </a:p>
          <a:p>
            <a:pPr>
              <a:spcAft>
                <a:spcPts val="1400"/>
              </a:spcAft>
              <a:defRPr sz="2100"/>
            </a:pPr>
            <a:r>
              <a:t>Highest complaint count: North region.</a:t>
            </a:r>
          </a:p>
          <a:p>
            <a:pPr>
              <a:spcAft>
                <a:spcPts val="1400"/>
              </a:spcAft>
              <a:defRPr sz="2100"/>
            </a:pPr>
            <a:r>
              <a:t>Mean total balance by segment: Low $14,921; Medium $16,443; High $18,416.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3A5F"/>
                </a:solidFill>
              </a:defRPr>
            </a:pPr>
            <a:r>
              <a:t>Age, account activity, and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Synthetic-data findings | TrustWave Bank</a:t>
            </a:r>
          </a:p>
        </p:txBody>
      </p:sp>
      <p:pic>
        <p:nvPicPr>
          <p:cNvPr id="4" name="Picture 3" descr="age_group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394960" cy="2953802"/>
          </a:xfrm>
          <a:prstGeom prst="rect">
            <a:avLst/>
          </a:prstGeom>
        </p:spPr>
      </p:pic>
      <p:pic>
        <p:nvPicPr>
          <p:cNvPr id="5" name="Picture 4" descr="account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394960" cy="29538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578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Account types with lower Q4 than Q1 transaction activity: Term Deposit.</a:t>
            </a:r>
          </a:p>
          <a:p>
            <a:pPr>
              <a:spcAft>
                <a:spcPts val="1400"/>
              </a:spcAft>
              <a:defRPr sz="2100"/>
            </a:pPr>
            <a:r>
              <a:t>Most repeated service type: Card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3A5F"/>
                </a:solidFill>
              </a:defRPr>
            </a:pPr>
            <a:r>
              <a:t>Machine-learning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Synthetic-data findings | TrustWave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Compared majority-class DummyClassifier, Logistic Regression, and Random Forest on a stratified 75/25 split.</a:t>
            </a:r>
          </a:p>
          <a:p>
            <a:pPr>
              <a:spcAft>
                <a:spcPts val="1400"/>
              </a:spcAft>
              <a:defRPr sz="2100"/>
            </a:pPr>
            <a:r>
              <a:t>Selected Logistic Regression by test macro F1 (accuracy breaks ties): accuracy 0.703, macro F1 0.699.</a:t>
            </a:r>
          </a:p>
          <a:p>
            <a:pPr>
              <a:spcAft>
                <a:spcPts val="1400"/>
              </a:spcAft>
              <a:defRPr sz="2100"/>
            </a:pPr>
            <a:r>
              <a:t>Test set: 300 customers. Full class report and confusion matrix are saved under outputs/metrics/.</a:t>
            </a:r>
          </a:p>
          <a:p>
            <a:pPr>
              <a:spcAft>
                <a:spcPts val="1400"/>
              </a:spcAft>
              <a:defRPr sz="2100"/>
            </a:pPr>
            <a:r>
              <a:t>Target is simulated from a latent engagement propensity; the latent value is not a predictor feature.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63A5F"/>
                </a:solidFill>
              </a:defRPr>
            </a:pPr>
            <a:r>
              <a:t>Evidence-based recommendations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Synthetic-data findings | TrustWave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Pilot assisted digital onboarding for customers aged 60+, the age band with the lowest combined average mobile and internet use; measure adoption and repeat use before scaling.</a:t>
            </a:r>
          </a:p>
          <a:p>
            <a:pPr>
              <a:spcAft>
                <a:spcPts val="1400"/>
              </a:spcAft>
              <a:defRPr sz="2100"/>
            </a:pPr>
            <a:r>
              <a:t>Investigate complaint drivers in North and redesign follow-up for Card support, the service type with the most customers making repeat requests. Review retention journeys for Term Deposit accounts, which recorded lower Q4 than Q1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5778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/>
            </a:pPr>
            <a:r>
              <a:t>Treat results as a synthetic prototype; validate any intervention using real, governed bank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